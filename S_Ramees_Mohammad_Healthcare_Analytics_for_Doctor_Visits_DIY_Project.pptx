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8"/>
  </p:notesMasterIdLst>
  <p:handoutMasterIdLst>
    <p:handoutMasterId r:id="rId19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1" r:id="rId12"/>
    <p:sldId id="342" r:id="rId13"/>
    <p:sldId id="344" r:id="rId14"/>
    <p:sldId id="343" r:id="rId15"/>
    <p:sldId id="304" r:id="rId16"/>
    <p:sldId id="345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67BBC5-90FB-0B4C-ED85-F72C7BA7CE4A}" v="1" dt="2022-06-06T12:10:26.221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96" d="100"/>
          <a:sy n="96" d="100"/>
        </p:scale>
        <p:origin x="82" y="6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9/24/2026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9/24/2026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9/24/2026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9/24/2026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abc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abc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abc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abc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abc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83501" y="4064000"/>
            <a:ext cx="4389584" cy="643172"/>
          </a:xfrm>
        </p:spPr>
        <p:txBody>
          <a:bodyPr>
            <a:normAutofit fontScale="85000" lnSpcReduction="20000"/>
          </a:bodyPr>
          <a:lstStyle/>
          <a:p>
            <a:pPr algn="r"/>
            <a:r>
              <a:rPr lang="en-US" b="0" dirty="0">
                <a:solidFill>
                  <a:schemeClr val="tx1"/>
                </a:solidFill>
              </a:rPr>
              <a:t>[Name : S Ramees </a:t>
            </a:r>
            <a:r>
              <a:rPr lang="en-US" b="0" dirty="0" err="1">
                <a:solidFill>
                  <a:schemeClr val="tx1"/>
                </a:solidFill>
              </a:rPr>
              <a:t>mohammad</a:t>
            </a:r>
            <a:r>
              <a:rPr lang="en-US" b="0" dirty="0">
                <a:solidFill>
                  <a:schemeClr val="tx1"/>
                </a:solidFill>
              </a:rPr>
              <a:t> ]</a:t>
            </a:r>
          </a:p>
          <a:p>
            <a:pPr algn="r"/>
            <a:r>
              <a:rPr lang="en-US" b="0" dirty="0">
                <a:solidFill>
                  <a:schemeClr val="tx1"/>
                </a:solidFill>
              </a:rPr>
              <a:t>[</a:t>
            </a:r>
            <a:r>
              <a:rPr lang="en-US" b="0" dirty="0" err="1">
                <a:solidFill>
                  <a:schemeClr val="tx1"/>
                </a:solidFill>
              </a:rPr>
              <a:t>stu</a:t>
            </a:r>
            <a:r>
              <a:rPr lang="en-US" b="0" dirty="0">
                <a:solidFill>
                  <a:schemeClr val="tx1"/>
                </a:solidFill>
              </a:rPr>
              <a:t> id:</a:t>
            </a:r>
            <a:r>
              <a:rPr lang="en-IN" dirty="0"/>
              <a:t>STU6a6a5995ea0541785354645]</a:t>
            </a:r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3"/>
            <a:ext cx="4998720" cy="743448"/>
          </a:xfrm>
        </p:spPr>
        <p:txBody>
          <a:bodyPr>
            <a:normAutofit fontScale="90000"/>
          </a:bodyPr>
          <a:lstStyle/>
          <a:p>
            <a:r>
              <a:rPr lang="en-IN" sz="3200" dirty="0"/>
              <a:t>Healthcare Analytics for Doctor Visits</a:t>
            </a:r>
            <a:r>
              <a:rPr lang="en-GB" sz="3200" dirty="0"/>
              <a:t> -</a:t>
            </a:r>
            <a:endParaRPr lang="en-IN" sz="32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6480" y="1875556"/>
            <a:ext cx="6431280" cy="3607987"/>
          </a:xfrm>
        </p:spPr>
        <p:txBody>
          <a:bodyPr>
            <a:normAutofit fontScale="77500" lnSpcReduction="20000"/>
          </a:bodyPr>
          <a:lstStyle/>
          <a:p>
            <a:pPr lvl="0"/>
            <a:r>
              <a:rPr lang="en-IN" sz="2800" dirty="0"/>
              <a:t>Healthcare providers and policymakers face challenges in predicting patient doctor visit frequency and resource demand.</a:t>
            </a:r>
          </a:p>
          <a:p>
            <a:pPr lvl="0"/>
            <a:r>
              <a:rPr lang="en-IN" sz="2800" dirty="0"/>
              <a:t>Inefficient resource allocation leads to hospital overcrowding, improper insurance targeting, and gaps in healthcare access for vulnerable demographics.</a:t>
            </a:r>
          </a:p>
          <a:p>
            <a:pPr lvl="0"/>
            <a:r>
              <a:rPr lang="en-IN" sz="2800" b="1" dirty="0"/>
              <a:t>Objective:</a:t>
            </a:r>
            <a:r>
              <a:rPr lang="en-IN" sz="2800" dirty="0"/>
              <a:t> Perform exploratory data analysis (EDA) on patient demographic, financial, and health records to identify primary drivers behind doctor visit frequency and optimize healthcare service delivery.</a:t>
            </a:r>
          </a:p>
          <a:p>
            <a:pPr>
              <a:lnSpc>
                <a:spcPct val="150000"/>
              </a:lnSpc>
            </a:pPr>
            <a:endParaRPr lang="en-IN" sz="2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>
            <a:normAutofit fontScale="90000"/>
          </a:bodyPr>
          <a:lstStyle/>
          <a:p>
            <a:r>
              <a:rPr lang="en-GB" dirty="0"/>
              <a:t>Project Description</a:t>
            </a:r>
            <a:br>
              <a:rPr lang="en-GB" dirty="0"/>
            </a:br>
            <a:br>
              <a:rPr lang="en-GB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72218D5-6542-97F5-E90A-801F36615617}"/>
              </a:ext>
            </a:extLst>
          </p:cNvPr>
          <p:cNvSpPr txBox="1"/>
          <p:nvPr/>
        </p:nvSpPr>
        <p:spPr>
          <a:xfrm>
            <a:off x="548640" y="1804947"/>
            <a:ext cx="759349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b="1" dirty="0"/>
              <a:t>Overview:</a:t>
            </a:r>
            <a:r>
              <a:rPr lang="en-IN" dirty="0"/>
              <a:t> A data analytics project examining </a:t>
            </a:r>
            <a:r>
              <a:rPr lang="en-IN" b="1" dirty="0"/>
              <a:t>5,190 patient records</a:t>
            </a:r>
            <a:r>
              <a:rPr lang="en-IN" dirty="0"/>
              <a:t> across </a:t>
            </a:r>
            <a:r>
              <a:rPr lang="en-IN" b="1" dirty="0"/>
              <a:t>13 key attributes</a:t>
            </a:r>
            <a:r>
              <a:rPr lang="en-IN" dirty="0"/>
              <a:t> to evaluate healthcare utilization </a:t>
            </a:r>
            <a:r>
              <a:rPr lang="en-IN" dirty="0" err="1"/>
              <a:t>behaviors</a:t>
            </a:r>
            <a:r>
              <a:rPr lang="en-IN" dirty="0"/>
              <a:t>.</a:t>
            </a:r>
          </a:p>
          <a:p>
            <a:pPr lvl="0"/>
            <a:r>
              <a:rPr lang="en-IN" b="1" dirty="0"/>
              <a:t>Key Steps Executed:</a:t>
            </a:r>
            <a:endParaRPr lang="en-IN" dirty="0"/>
          </a:p>
          <a:p>
            <a:pPr lvl="1"/>
            <a:r>
              <a:rPr lang="en-IN" b="1" dirty="0"/>
              <a:t>*Data Inspection &amp; Cleaning:</a:t>
            </a:r>
            <a:r>
              <a:rPr lang="en-IN" dirty="0"/>
              <a:t> Verified data schema (5,190 rows, 13 variables); confirmed zero missing values across all columns.</a:t>
            </a:r>
          </a:p>
          <a:p>
            <a:pPr lvl="1"/>
            <a:r>
              <a:rPr lang="en-IN" b="1" dirty="0"/>
              <a:t>*Statistical Profiling:</a:t>
            </a:r>
            <a:r>
              <a:rPr lang="en-IN" dirty="0"/>
              <a:t> Evaluated numerical distributions for age, income, illness count, health status, and reduced activity days.</a:t>
            </a:r>
          </a:p>
          <a:p>
            <a:pPr lvl="1"/>
            <a:r>
              <a:rPr lang="en-IN" b="1" dirty="0"/>
              <a:t>*Univariate &amp; Bivariate Analysis:</a:t>
            </a:r>
            <a:r>
              <a:rPr lang="en-IN" dirty="0"/>
              <a:t> Examined gender distributions, doctor visit frequency, and insurance types (private, </a:t>
            </a:r>
            <a:r>
              <a:rPr lang="en-IN" dirty="0" err="1"/>
              <a:t>freepoor</a:t>
            </a:r>
            <a:r>
              <a:rPr lang="en-IN" dirty="0"/>
              <a:t>, </a:t>
            </a:r>
            <a:r>
              <a:rPr lang="en-IN" dirty="0" err="1"/>
              <a:t>freerepat</a:t>
            </a:r>
            <a:r>
              <a:rPr lang="en-IN" dirty="0"/>
              <a:t>).</a:t>
            </a:r>
          </a:p>
          <a:p>
            <a:pPr lvl="1"/>
            <a:r>
              <a:rPr lang="en-IN" b="1" dirty="0"/>
              <a:t>*Health &amp; Financial Correlation:</a:t>
            </a:r>
            <a:r>
              <a:rPr lang="en-IN" dirty="0"/>
              <a:t> </a:t>
            </a:r>
            <a:r>
              <a:rPr lang="en-IN" dirty="0" err="1"/>
              <a:t>Analyzed</a:t>
            </a:r>
            <a:r>
              <a:rPr lang="en-IN" dirty="0"/>
              <a:t> how chronic conditions (</a:t>
            </a:r>
            <a:r>
              <a:rPr lang="en-IN" dirty="0" err="1"/>
              <a:t>nchronic</a:t>
            </a:r>
            <a:r>
              <a:rPr lang="en-IN" dirty="0"/>
              <a:t>, </a:t>
            </a:r>
            <a:r>
              <a:rPr lang="en-IN" dirty="0" err="1"/>
              <a:t>lchronic</a:t>
            </a:r>
            <a:r>
              <a:rPr lang="en-IN" dirty="0"/>
              <a:t>), income levels, and government subsidies impact healthcare access.</a:t>
            </a:r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991360"/>
            <a:ext cx="7904481" cy="3990023"/>
          </a:xfrm>
        </p:spPr>
        <p:txBody>
          <a:bodyPr>
            <a:normAutofit fontScale="62500" lnSpcReduction="20000"/>
          </a:bodyPr>
          <a:lstStyle/>
          <a:p>
            <a:pPr lvl="0"/>
            <a:r>
              <a:rPr lang="en-IN" sz="3600" b="1" dirty="0"/>
              <a:t>Hospital &amp; Clinic Administrators:</a:t>
            </a:r>
            <a:r>
              <a:rPr lang="en-IN" sz="3600" dirty="0"/>
              <a:t> For patient inflow forecasting, physician scheduling, and capacity planning.</a:t>
            </a:r>
          </a:p>
          <a:p>
            <a:pPr lvl="0"/>
            <a:r>
              <a:rPr lang="en-IN" sz="3600" b="1" dirty="0"/>
              <a:t>Health Insurance Providers:</a:t>
            </a:r>
            <a:r>
              <a:rPr lang="en-IN" sz="3600" dirty="0"/>
              <a:t> To structure insurance coverage plans and assess patient risk tiers based on income and health indicators.</a:t>
            </a:r>
          </a:p>
          <a:p>
            <a:pPr lvl="0"/>
            <a:r>
              <a:rPr lang="en-IN" sz="3600" b="1" dirty="0"/>
              <a:t>Public Health Policy Makers:</a:t>
            </a:r>
            <a:r>
              <a:rPr lang="en-IN" sz="3600" dirty="0"/>
              <a:t> To evaluate the effectiveness of subsidized healthcare programs (</a:t>
            </a:r>
            <a:r>
              <a:rPr lang="en-IN" dirty="0" err="1"/>
              <a:t>freepoor</a:t>
            </a:r>
            <a:r>
              <a:rPr lang="en-IN" sz="3600" dirty="0"/>
              <a:t>, </a:t>
            </a:r>
            <a:r>
              <a:rPr lang="en-IN" dirty="0" err="1"/>
              <a:t>freerepat</a:t>
            </a:r>
            <a:r>
              <a:rPr lang="en-IN" sz="3600" dirty="0"/>
              <a:t>) for low-income and elderly populations.</a:t>
            </a:r>
          </a:p>
          <a:p>
            <a:pPr lvl="0"/>
            <a:r>
              <a:rPr lang="en-IN" sz="3600" b="1" dirty="0"/>
              <a:t>Healthcare Data Analysts:</a:t>
            </a:r>
            <a:r>
              <a:rPr lang="en-IN" sz="3600" dirty="0"/>
              <a:t> To develop predictive models for patient readmissions and medical intervention planning.</a:t>
            </a:r>
          </a:p>
          <a:p>
            <a:pPr algn="just">
              <a:lnSpc>
                <a:spcPct val="150000"/>
              </a:lnSpc>
            </a:pPr>
            <a:endParaRPr lang="en-IN" sz="36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618" y="1432560"/>
            <a:ext cx="9027702" cy="5243448"/>
          </a:xfrm>
        </p:spPr>
        <p:txBody>
          <a:bodyPr/>
          <a:lstStyle/>
          <a:p>
            <a:pPr lvl="0"/>
            <a:r>
              <a:rPr lang="en-IN" b="1" dirty="0"/>
              <a:t>Programming Language:</a:t>
            </a:r>
            <a:r>
              <a:rPr lang="en-IN" dirty="0"/>
              <a:t> Python 3</a:t>
            </a:r>
          </a:p>
          <a:p>
            <a:pPr lvl="0"/>
            <a:r>
              <a:rPr lang="en-IN" b="1" dirty="0"/>
              <a:t>Development Environment:</a:t>
            </a:r>
            <a:r>
              <a:rPr lang="en-IN" dirty="0"/>
              <a:t> Google </a:t>
            </a:r>
            <a:r>
              <a:rPr lang="en-IN" dirty="0" err="1"/>
              <a:t>Colab</a:t>
            </a:r>
            <a:r>
              <a:rPr lang="en-IN" dirty="0"/>
              <a:t> / Jupyter Notebook</a:t>
            </a:r>
          </a:p>
          <a:p>
            <a:pPr lvl="0"/>
            <a:r>
              <a:rPr lang="en-IN" b="1" dirty="0"/>
              <a:t>Data Manipulation Libraries:</a:t>
            </a:r>
            <a:r>
              <a:rPr lang="en-IN" dirty="0"/>
              <a:t> Pandas, NumPy</a:t>
            </a:r>
          </a:p>
          <a:p>
            <a:pPr lvl="0"/>
            <a:r>
              <a:rPr lang="en-IN" b="1" dirty="0"/>
              <a:t>Data Visualization Libraries:</a:t>
            </a:r>
            <a:r>
              <a:rPr lang="en-IN" dirty="0"/>
              <a:t> Matplotlib, Seaborn</a:t>
            </a:r>
          </a:p>
          <a:p>
            <a:pPr lvl="1">
              <a:lnSpc>
                <a:spcPct val="150000"/>
              </a:lnSpc>
            </a:pPr>
            <a:endParaRPr lang="en-IN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E25373E9-1A26-4A40-9897-E42DE485D8E3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b="0" u="sng" dirty="0">
                <a:solidFill>
                  <a:srgbClr val="0070C0"/>
                </a:solidFill>
                <a:hlinkClick r:id="rId3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 Link</a:t>
            </a:r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DDA0D7A-F689-8061-39EA-87C5266F9B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164" y="1201586"/>
            <a:ext cx="7851502" cy="5620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A2711-31DD-190F-81F8-705601C9D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EB3EDFF-1BFB-8AE8-9F9B-431466C8E53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F9BD125C-09B1-F3B7-18C2-6D9E44424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2D2FDDB0-2C25-569C-CE05-691BA57C7050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D43BFF86-7637-6731-3BDB-5385CD564EF9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B2CCB1AA-2378-A5BC-FCBF-59336D4B3E10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b="0" u="sng" dirty="0">
                <a:solidFill>
                  <a:srgbClr val="0070C0"/>
                </a:solidFill>
                <a:hlinkClick r:id="rId3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 Link</a:t>
            </a:r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74AE12F5-B9D9-2D36-D91D-22878A08ACE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C0AC1E-5D05-712A-1F22-5F0EE3F5C3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959" y="1431692"/>
            <a:ext cx="7981570" cy="5328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789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F0C0A-66A7-E391-AC4B-8165DFACD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B4266ED-767C-FC40-A505-61378E95732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FA79182A-A4AE-E522-7A9E-58BDDC32B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52777960-7B2B-A088-10D2-B901863A96B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CA6D2260-A310-05A0-668D-6A550783CCA2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3712890F-FB88-3435-68FB-9FA5144B3568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b="0" u="sng" dirty="0">
                <a:solidFill>
                  <a:srgbClr val="0070C0"/>
                </a:solidFill>
                <a:hlinkClick r:id="rId3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 Link</a:t>
            </a:r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54396AD3-E4A8-17E2-999B-EF28513C74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5F5BF96-244A-C56F-7903-A3D7871450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318" y="1431692"/>
            <a:ext cx="7694191" cy="5136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953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E7B216-26FD-E971-DCF6-62AE71FD8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9FA27A6-2936-0FE0-DA08-4349F0AACCF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FCBC65A7-08F1-87FA-BF69-D042B9959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3344E48-5C43-22FC-2FED-6495763724C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3F1700D8-F2F6-3E3A-2D80-D12BE13182F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E2671D06-9AE8-50D4-930F-57AD977826B6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b="0" u="sng" dirty="0">
                <a:solidFill>
                  <a:srgbClr val="0070C0"/>
                </a:solidFill>
                <a:hlinkClick r:id="rId3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 Link</a:t>
            </a:r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04721AA-48B9-79EE-2D14-96959AFF2C1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4EE884F-F5BB-184E-4C5D-5BEEFA6C37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957" y="1079576"/>
            <a:ext cx="7315104" cy="5778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387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91664D-6EAF-4E3B-0C46-32509CA95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BC55358-9E13-5D11-0258-6EEAC8AA92B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8580CF8-B6D0-40AE-5CFC-A0B5EAC5C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F3368A8F-A3FB-F2EC-0B82-7A8217024B94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B671F73-AF09-858B-029F-518F4BF3267A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EED21F40-166A-18B4-3AC0-B5B4E252F980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3752D6C3-D623-1B40-95C9-1424367AA0D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CDC41B-F177-B642-A081-626CFAE710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056" y="1357908"/>
            <a:ext cx="4443239" cy="356556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2AE85C2-AA65-6059-A4A9-85A64D3391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9410" y="1275371"/>
            <a:ext cx="5073471" cy="3974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297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5C384-CE35-FE94-6BE2-EF2046B1D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6AED763-A110-A018-C5E8-009622C2DF2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05EEDF36-538C-EFC1-39F3-948C0C366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902F2B1E-BBB7-E019-E1DA-0CFBE6528ECD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44DAEDA-EBD0-25F0-946B-DC37D4FE3DDB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34916765-A648-92B4-A967-2A073946DFD7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b="0" u="sng" dirty="0">
                <a:solidFill>
                  <a:srgbClr val="0070C0"/>
                </a:solidFill>
                <a:hlinkClick r:id="rId3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 Link</a:t>
            </a:r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38B4C2D5-A1AB-B6F9-A4A7-63EE77DAA00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E0591D9-2CED-1BC5-18EA-B468B7BFB8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957" y="1275371"/>
            <a:ext cx="8510942" cy="5588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945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1003502"/>
            <a:ext cx="6835492" cy="344312"/>
          </a:xfrm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 err="1">
                <a:solidFill>
                  <a:schemeClr val="tx1"/>
                </a:solidFill>
              </a:rPr>
              <a:t>Github</a:t>
            </a:r>
            <a:r>
              <a:rPr lang="en-US" sz="4800" b="1" dirty="0">
                <a:solidFill>
                  <a:schemeClr val="tx1"/>
                </a:solidFill>
              </a:rPr>
              <a:t> link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C277FD7-925B-4C3D-A364-118403201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75576" y="2456953"/>
            <a:ext cx="8434927" cy="675861"/>
          </a:xfrm>
        </p:spPr>
        <p:txBody>
          <a:bodyPr>
            <a:normAutofit lnSpcReduction="10000"/>
          </a:bodyPr>
          <a:lstStyle/>
          <a:p>
            <a:r>
              <a:rPr lang="en-IN" dirty="0"/>
              <a:t>https://github.com/rameesmohammad/Healthcare-Data-Science-Predictive-Analytics</a:t>
            </a:r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62E211-C536-8B1D-F3C7-1CFC2D8EA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FC0495D-DE71-CC34-5164-253FA2E88573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295DC29E-ABFC-DCDF-0982-262643C5108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FE93CBA6-E8E0-6226-039A-B0E77DE15EE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4F8AE2B1-0B2A-0253-DEFA-F70E5CE85F0C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5632E623-8543-1281-44F3-AA9A92DA35D1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6CCD667A-2433-5EF3-2C01-3B5B33EE3ABE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1849FE7-207F-B7E1-B5E0-0F9602A4051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986FEC2-0568-3B6F-3E3E-6E01817FE8B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BB9FFE1-E480-FA3C-0D9E-48B429B97D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975013" y="3962573"/>
            <a:ext cx="2139696" cy="344312"/>
          </a:xfrm>
        </p:spPr>
        <p:txBody>
          <a:bodyPr>
            <a:normAutofit fontScale="92500" lnSpcReduction="20000"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37707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579</TotalTime>
  <Words>414</Words>
  <Application>Microsoft Office PowerPoint</Application>
  <PresentationFormat>Widescreen</PresentationFormat>
  <Paragraphs>49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Trebuchet MS</vt:lpstr>
      <vt:lpstr>Wingdings</vt:lpstr>
      <vt:lpstr>Wingdings 3</vt:lpstr>
      <vt:lpstr>Facet</vt:lpstr>
      <vt:lpstr>Healthcare Analytics for Doctor Visits -</vt:lpstr>
      <vt:lpstr>PROBLEM  STATEMENT</vt:lpstr>
      <vt:lpstr>Project Description  </vt:lpstr>
      <vt:lpstr>WHO ARE THE END USERS?</vt:lpstr>
      <vt:lpstr>Technology Used</vt:lpstr>
      <vt:lpstr>RESULTS </vt:lpstr>
      <vt:lpstr>RESULTS </vt:lpstr>
      <vt:lpstr>RESULTS </vt:lpstr>
      <vt:lpstr>RESULTS </vt:lpstr>
      <vt:lpstr>RESULTS </vt:lpstr>
      <vt:lpstr>RESULTS </vt:lpstr>
      <vt:lpstr>Github link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Ramees Mohammad</cp:lastModifiedBy>
  <cp:revision>75</cp:revision>
  <dcterms:created xsi:type="dcterms:W3CDTF">2021-07-11T13:13:15Z</dcterms:created>
  <dcterms:modified xsi:type="dcterms:W3CDTF">2026-09-23T19:30:16Z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